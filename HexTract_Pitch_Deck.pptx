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HexTract AI Agent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Digitization &amp; Validation with AI-Powered Extraction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Processing Hackathon  |  April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0" y="4160520"/>
            <a:ext cx="5486400" cy="5029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828800" y="41605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errors before they cost millions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batch records are a compliance time bomb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0116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$4-8B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of manual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errors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20116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60-70%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566160" y="2743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pharma sites still 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batch records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60320" cy="20116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0574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800+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6400800" y="2743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warning letters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(2015-2026)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703320"/>
            <a:ext cx="8046720" cy="640080"/>
          </a:xfrm>
          <a:prstGeom prst="rect">
            <a:avLst/>
          </a:prstGeom>
          <a:solidFill>
            <a:srgbClr val="1C1117"/>
          </a:solidFill>
          <a:ln/>
        </p:spPr>
      </p:sp>
      <p:sp>
        <p:nvSpPr>
          <p:cNvPr id="21" name="Shape 16"/>
          <p:cNvSpPr/>
          <p:nvPr/>
        </p:nvSpPr>
        <p:spPr>
          <a:xfrm>
            <a:off x="548640" y="3703320"/>
            <a:ext cx="64008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7033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batch record transcription error can trigger a deviation investigation costing $10,000 – $50,000.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CMOs exceed 80% paper-based records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extraction, confidence scoring, human review, and continuous model improvement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3017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HexTract AI Agent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for digitizing handwritten BMRs using AI-powered extraction, automated quality scoring, and human-in-the-loop validation.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and infers the BMR schema from the data. Flagged records loop back with reviewer notes for re-extraction. Validated records feed an active feedback loop for continuous model improvement.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1371600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371600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49047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LLM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6692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extraction engine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937760" y="2176272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37760" y="2176272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29514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66928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 scores (0.0–1.0)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937760" y="2980944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980944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30998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Review UI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69280" y="3300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edit, approve, or flag records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937760" y="3785616"/>
            <a:ext cx="3657600" cy="658368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937760" y="3785616"/>
            <a:ext cx="54864" cy="65836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90448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69280" y="3831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Feedback Loop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669280" y="4105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 retrains the model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stages from scanned pages to a continuously improving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71016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710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80160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45920" y="1234440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9" name="Text 6"/>
          <p:cNvSpPr/>
          <p:nvPr/>
        </p:nvSpPr>
        <p:spPr>
          <a:xfrm>
            <a:off x="1783080" y="1252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Capture &amp; Assembly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0" y="125272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pages scanned/photographed, multi-page records stitched into a single logical document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4380" y="1691640"/>
            <a:ext cx="0" cy="54864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48640" y="180136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810512"/>
            <a:ext cx="347472" cy="34747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645920" y="1764792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6" name="Text 12"/>
          <p:cNvSpPr/>
          <p:nvPr/>
        </p:nvSpPr>
        <p:spPr>
          <a:xfrm>
            <a:off x="1783080" y="1783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Schema Learning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114800" y="178308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LLM parses handwriting, infers BMR schema from data — no hardcoded fields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54380" y="2221992"/>
            <a:ext cx="0" cy="54864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548640" y="233172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40864"/>
            <a:ext cx="347472" cy="34747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645920" y="2295144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3" name="Text 18"/>
          <p:cNvSpPr/>
          <p:nvPr/>
        </p:nvSpPr>
        <p:spPr>
          <a:xfrm>
            <a:off x="1783080" y="23134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Scoring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114800" y="231343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extracted field scored 0.0–1.0 for confidence; configurable same or separate model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54380" y="2752344"/>
            <a:ext cx="0" cy="54864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26" name="Shape 21"/>
          <p:cNvSpPr/>
          <p:nvPr/>
        </p:nvSpPr>
        <p:spPr>
          <a:xfrm>
            <a:off x="548640" y="2862072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2862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71216"/>
            <a:ext cx="347472" cy="34747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645920" y="2825496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0" name="Text 24"/>
          <p:cNvSpPr/>
          <p:nvPr/>
        </p:nvSpPr>
        <p:spPr>
          <a:xfrm>
            <a:off x="1783080" y="2843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(Streamlit UI)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114800" y="284378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view, edit, approve, or flag records with notes for re-extraction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4380" y="3282696"/>
            <a:ext cx="0" cy="54864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33" name="Shape 27"/>
          <p:cNvSpPr/>
          <p:nvPr/>
        </p:nvSpPr>
        <p:spPr>
          <a:xfrm>
            <a:off x="548640" y="3392424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4" name="Text 28"/>
          <p:cNvSpPr/>
          <p:nvPr/>
        </p:nvSpPr>
        <p:spPr>
          <a:xfrm>
            <a:off x="548640" y="3392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01568"/>
            <a:ext cx="347472" cy="347472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645920" y="3355848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7" name="Text 30"/>
          <p:cNvSpPr/>
          <p:nvPr/>
        </p:nvSpPr>
        <p:spPr>
          <a:xfrm>
            <a:off x="1783080" y="33741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Re-Extraction Loop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4114800" y="337413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records sent back to extraction model with reviewer notes as added context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54380" y="3813048"/>
            <a:ext cx="0" cy="54864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40" name="Shape 33"/>
          <p:cNvSpPr/>
          <p:nvPr/>
        </p:nvSpPr>
        <p:spPr>
          <a:xfrm>
            <a:off x="548640" y="3922776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1" name="Text 34"/>
          <p:cNvSpPr/>
          <p:nvPr/>
        </p:nvSpPr>
        <p:spPr>
          <a:xfrm>
            <a:off x="548640" y="39227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931920"/>
            <a:ext cx="347472" cy="347472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1645920" y="3886200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44" name="Text 36"/>
          <p:cNvSpPr/>
          <p:nvPr/>
        </p:nvSpPr>
        <p:spPr>
          <a:xfrm>
            <a:off x="1783080" y="39044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Persistence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114800" y="390448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records saved as JSON with full extraction history and audit trail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754380" y="4343400"/>
            <a:ext cx="0" cy="54864"/>
          </a:xfrm>
          <a:prstGeom prst="line">
            <a:avLst/>
          </a:prstGeom>
          <a:noFill/>
          <a:ln w="19050">
            <a:solidFill>
              <a:srgbClr val="0EA5E9"/>
            </a:solidFill>
            <a:prstDash val="dash"/>
          </a:ln>
        </p:spPr>
      </p:sp>
      <p:sp>
        <p:nvSpPr>
          <p:cNvPr id="47" name="Shape 39"/>
          <p:cNvSpPr/>
          <p:nvPr/>
        </p:nvSpPr>
        <p:spPr>
          <a:xfrm>
            <a:off x="548640" y="4453128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8" name="Text 40"/>
          <p:cNvSpPr/>
          <p:nvPr/>
        </p:nvSpPr>
        <p:spPr>
          <a:xfrm>
            <a:off x="548640" y="4453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462272"/>
            <a:ext cx="347472" cy="347472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645920" y="4416552"/>
            <a:ext cx="6903720" cy="45720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51" name="Text 42"/>
          <p:cNvSpPr/>
          <p:nvPr/>
        </p:nvSpPr>
        <p:spPr>
          <a:xfrm>
            <a:off x="178308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Feedback Loop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4114800" y="44348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data feeds back into model retraining — continuous improvement over time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scanned pages to curated repository with re-extraction and feedback loops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16002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447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65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scanned pages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single record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920240"/>
            <a:ext cx="228600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325880"/>
            <a:ext cx="1965960" cy="16002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560320" y="1325880"/>
            <a:ext cx="1965960" cy="54864"/>
          </a:xfrm>
          <a:prstGeom prst="rect">
            <a:avLst/>
          </a:prstGeom>
          <a:solidFill>
            <a:srgbClr val="0284C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4447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1965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65176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Interchangeable LLM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Schema Learning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800600" y="1325880"/>
            <a:ext cx="1965960" cy="16002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00600" y="132588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444752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00600" y="1965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489204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confidence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– 1.0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920240"/>
            <a:ext cx="228600" cy="22860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040880" y="1325880"/>
            <a:ext cx="1965960" cy="160020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7040880" y="132588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1444752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40880" y="1965960"/>
            <a:ext cx="1965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UI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7132320" y="24231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Edit, Approve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Flag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286000" y="3017520"/>
            <a:ext cx="4572000" cy="320040"/>
          </a:xfrm>
          <a:prstGeom prst="rect">
            <a:avLst/>
          </a:prstGeom>
          <a:solidFill>
            <a:srgbClr val="162338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40" y="3035808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69748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records loop back to extraction with reviewer notes as context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4572000" y="3429000"/>
            <a:ext cx="0" cy="18288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32" name="Text 22"/>
          <p:cNvSpPr/>
          <p:nvPr/>
        </p:nvSpPr>
        <p:spPr>
          <a:xfrm>
            <a:off x="4343400" y="34930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▼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548640" y="3657600"/>
            <a:ext cx="80467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3767328"/>
            <a:ext cx="384048" cy="38404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28016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Human-Curated BMR Repository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1280160" y="40050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records with full extraction history, confidence scores, and reviewer audit trail</a:t>
            </a:r>
            <a:endParaRPr lang="en-US" sz="10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3767328"/>
            <a:ext cx="384048" cy="384048"/>
          </a:xfrm>
          <a:prstGeom prst="rect">
            <a:avLst/>
          </a:prstGeom>
        </p:spPr>
      </p:pic>
      <p:sp>
        <p:nvSpPr>
          <p:cNvPr id="39" name="Shape 2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162338"/>
          </a:solidFill>
          <a:ln/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507992"/>
            <a:ext cx="292608" cy="292608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1143000" y="44348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Feedback Loop — validated data auto-feeds model retraining for continuous improvement</a:t>
            </a:r>
            <a:endParaRPr lang="en-US" sz="1100" dirty="0"/>
          </a:p>
        </p:txBody>
      </p:sp>
      <p:sp>
        <p:nvSpPr>
          <p:cNvPr id="42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Validation Gate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records persist to the repository — flagged records loop back with reviewer notes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24688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6304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SCHEMA VALID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fields populated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within specification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and batch numbers consistent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calculation verified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63040" y="3383280"/>
            <a:ext cx="2011680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3383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Submission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3840480" cy="246888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258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ERRORS DETECTED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120640" y="246888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flagged with severity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 in document shown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guidance provided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corrects BMR and resubmits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0" y="3383280"/>
            <a:ext cx="201168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0" y="3383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Resubmit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468880" y="3794760"/>
            <a:ext cx="0" cy="22860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40280" y="39136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▼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1623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8640" y="4114800"/>
            <a:ext cx="80467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5196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71600" y="4187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Human-Curated BMR Repository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371600" y="45079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validated, error-free batch records enter the repository — building a gold-standard dataset over time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2519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Catch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categories of automated compliance checks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89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Out-of-Spec Results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 4.2 vs spec 5.5–7.5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28016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4983480" y="1389888"/>
            <a:ext cx="73152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89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216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Blank operator signature on Step 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423160"/>
            <a:ext cx="54864" cy="9601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532888"/>
            <a:ext cx="73152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532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4592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Inconsistencies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2880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 date ≠ header 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423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2423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23"/>
          <p:cNvSpPr/>
          <p:nvPr/>
        </p:nvSpPr>
        <p:spPr>
          <a:xfrm>
            <a:off x="4983480" y="2532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532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52160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Mismatches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2880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 # changes mid-document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566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675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675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4592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" y="4023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 exceeds 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566160"/>
            <a:ext cx="3931920" cy="96012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3566160"/>
            <a:ext cx="54864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983480" y="3675888"/>
            <a:ext cx="73152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67588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52160" y="3639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Contradictions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83480" y="4023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OOS result marked 'CONFORMS'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Demo: Live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agent processed two synthetic GMP documents with embedded errors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840480" cy="3017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Production Record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HCl 500mg  |  BN-2026-0342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103.2% — physically impossible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182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4.2 below spec (5.5–7.5)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38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# mismatch: 0342 vs 0343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694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operator on Step 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950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inconsistency on Step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3840480" cy="301752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2588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 HCl USP API  |  Lot API-8834-A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3776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06640" y="2103120"/>
            <a:ext cx="1051560" cy="64008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06640" y="2487168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98.2% below spec (99.0–101.0%)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182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metals &gt; 10 ppm spec limit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3438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OOS results marked 'CONFORMS'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3694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Retest date before mfg date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solidFill>
            <a:srgbClr val="1C1117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10 / 10 embedded errors detected — 100% catch rate on synthetic test data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 validation saves money at every stage of the compliance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23774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554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errors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mistakes before they enter the system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23774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544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800" dirty="0"/>
          </a:p>
        </p:txBody>
      </p:sp>
      <p:sp>
        <p:nvSpPr>
          <p:cNvPr id="15" name="Text 11"/>
          <p:cNvSpPr/>
          <p:nvPr/>
        </p:nvSpPr>
        <p:spPr>
          <a:xfrm>
            <a:off x="35661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batch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review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204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 vs. manual data entry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560320" cy="2377440"/>
          </a:xfrm>
          <a:prstGeom prst="rect">
            <a:avLst/>
          </a:prstGeom>
          <a:solidFill>
            <a:srgbClr val="1E2D4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54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$50K+</a:t>
            </a:r>
            <a:endParaRPr lang="en-US" sz="38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deviation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3550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error caught = one investigation avoided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ALCOA+ Compliance Assessment Built In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65760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5" name="Text 20"/>
          <p:cNvSpPr/>
          <p:nvPr/>
        </p:nvSpPr>
        <p:spPr>
          <a:xfrm>
            <a:off x="365760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685800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084832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28" name="Text 23"/>
          <p:cNvSpPr/>
          <p:nvPr/>
        </p:nvSpPr>
        <p:spPr>
          <a:xfrm>
            <a:off x="2084832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2404872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Legible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803904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1" name="Text 26"/>
          <p:cNvSpPr/>
          <p:nvPr/>
        </p:nvSpPr>
        <p:spPr>
          <a:xfrm>
            <a:off x="3803904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4123944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Contemporaneous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522976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4" name="Text 29"/>
          <p:cNvSpPr/>
          <p:nvPr/>
        </p:nvSpPr>
        <p:spPr>
          <a:xfrm>
            <a:off x="5522976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5843016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242048" y="4343400"/>
            <a:ext cx="1554480" cy="502920"/>
          </a:xfrm>
          <a:prstGeom prst="rect">
            <a:avLst/>
          </a:prstGeom>
          <a:solidFill>
            <a:srgbClr val="162338"/>
          </a:solidFill>
          <a:ln/>
        </p:spPr>
      </p:sp>
      <p:sp>
        <p:nvSpPr>
          <p:cNvPr id="37" name="Text 32"/>
          <p:cNvSpPr/>
          <p:nvPr/>
        </p:nvSpPr>
        <p:spPr>
          <a:xfrm>
            <a:off x="7242048" y="43434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000" dirty="0"/>
          </a:p>
        </p:txBody>
      </p:sp>
      <p:sp>
        <p:nvSpPr>
          <p:cNvPr id="38" name="Text 33"/>
          <p:cNvSpPr/>
          <p:nvPr/>
        </p:nvSpPr>
        <p:spPr>
          <a:xfrm>
            <a:off x="7562088" y="43434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HexTract AI Agent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finding errors after they cost you. Find them before.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+  Interchangeable LLM  +  Pydantic  +  Streamlit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42976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Processing Hackathon  |  April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HexTract AI Agent — BMR Digitization &amp; Validation Pipeline</dc:title>
  <dc:subject>PptxGenJS Presentation</dc:subject>
  <dc:creator>HexTract Team</dc:creator>
  <cp:lastModifiedBy>HexTract Team</cp:lastModifiedBy>
  <cp:revision>1</cp:revision>
  <dcterms:created xsi:type="dcterms:W3CDTF">2026-04-13T18:49:28Z</dcterms:created>
  <dcterms:modified xsi:type="dcterms:W3CDTF">2026-04-13T18:49:28Z</dcterms:modified>
</cp:coreProperties>
</file>